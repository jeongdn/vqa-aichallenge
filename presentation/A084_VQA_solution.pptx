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25C6E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525C6E"/>
                </a:solidFill>
                <a:latin typeface="Malgun Gothic"/>
              </a:rPr>
              <a:t>zero-shot 정확도 (%) · 검증 앞 300문항 · up2.0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zero-shot 정확도</c:v>
                </c:pt>
              </c:strCache>
            </c:strRef>
          </c:tx>
          <c:spPr>
            <a:solidFill>
              <a:srgbClr val="B6BDC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6BDC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6BDC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6BDC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CA311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EXAONE-4.5-33B</c:v>
                  </c:pt>
                  <c:pt idx="1">
                    <c:v>GLM-5.3-Flash</c:v>
                  </c:pt>
                  <c:pt idx="2">
                    <c:v>A.X-4.0-VL-Light</c:v>
                  </c:pt>
                  <c:pt idx="3">
                    <c:v>InternVL3.5-38B</c:v>
                  </c:pt>
                  <c:pt idx="4">
                    <c:v>HyperCLOVA X 32B</c:v>
                  </c:pt>
                  <c:pt idx="5">
                    <c:v>Qwen3.6-35B-A3B</c:v>
                  </c:pt>
                  <c:pt idx="6">
                    <c:v>Qwen3.5-27B</c:v>
                  </c:pt>
                  <c:pt idx="7">
                    <c:v>Qwen3.8-Flash-Next</c:v>
                  </c:pt>
                  <c:pt idx="8">
                    <c:v>Gemma-4-31B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85.67</c:v>
                </c:pt>
                <c:pt idx="1">
                  <c:v>92</c:v>
                </c:pt>
                <c:pt idx="2">
                  <c:v>93</c:v>
                </c:pt>
                <c:pt idx="3">
                  <c:v>94.33</c:v>
                </c:pt>
                <c:pt idx="4">
                  <c:v>95.67</c:v>
                </c:pt>
                <c:pt idx="5">
                  <c:v>96.33</c:v>
                </c:pt>
                <c:pt idx="6">
                  <c:v>96.33</c:v>
                </c:pt>
                <c:pt idx="7">
                  <c:v>96.67</c:v>
                </c:pt>
                <c:pt idx="8">
                  <c:v>97.67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b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95A6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25C6E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525C6E"/>
                </a:solidFill>
                <a:latin typeface="Malgun Gothic"/>
              </a:rPr>
              <a:t>검증 정확도 (%) · 축은 94%부터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검증 정확도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6BDC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6BDC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FCA311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InternVL3.5-38B</c:v>
                  </c:pt>
                  <c:pt idx="1">
                    <c:v>Qwen3.5-122B (zero-shot)</c:v>
                  </c:pt>
                  <c:pt idx="2">
                    <c:v>Qwen3.5-9B</c:v>
                  </c:pt>
                  <c:pt idx="3">
                    <c:v>Qwen3-VL-8B</c:v>
                  </c:pt>
                  <c:pt idx="4">
                    <c:v>Qwen3.8-27B</c:v>
                  </c:pt>
                  <c:pt idx="5">
                    <c:v>Qwen3.8-Flash-Next</c:v>
                  </c:pt>
                  <c:pt idx="6">
                    <c:v>Gemma-4-26B-A4B</c:v>
                  </c:pt>
                  <c:pt idx="7">
                    <c:v>Gemma-4-31B (zero-shot)</c:v>
                  </c:pt>
                  <c:pt idx="8">
                    <c:v>Qwen3.6-35B-A3B</c:v>
                  </c:pt>
                  <c:pt idx="9">
                    <c:v>HyperCLOVA X 32B</c:v>
                  </c:pt>
                  <c:pt idx="10">
                    <c:v>Qwen3.5-27B</c:v>
                  </c:pt>
                  <c:pt idx="11">
                    <c:v>Qwen3.5-27B 이어학습+보조</c:v>
                  </c:pt>
                  <c:pt idx="12">
                    <c:v>Gemma-4-31B</c:v>
                  </c:pt>
                  <c:pt idx="13">
                    <c:v>Gemma-4-31B OCR</c:v>
                  </c:pt>
                  <c:pt idx="14">
                    <c:v>조합 ea0e9f (5개 평균)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95.7</c:v>
                </c:pt>
                <c:pt idx="1">
                  <c:v>96</c:v>
                </c:pt>
                <c:pt idx="2">
                  <c:v>96.4</c:v>
                </c:pt>
                <c:pt idx="3">
                  <c:v>96.5</c:v>
                </c:pt>
                <c:pt idx="4">
                  <c:v>96.8</c:v>
                </c:pt>
                <c:pt idx="5">
                  <c:v>96.9</c:v>
                </c:pt>
                <c:pt idx="6">
                  <c:v>96.9</c:v>
                </c:pt>
                <c:pt idx="7">
                  <c:v>97</c:v>
                </c:pt>
                <c:pt idx="8">
                  <c:v>97</c:v>
                </c:pt>
                <c:pt idx="9">
                  <c:v>97</c:v>
                </c:pt>
                <c:pt idx="10">
                  <c:v>97.2</c:v>
                </c:pt>
                <c:pt idx="11">
                  <c:v>97.6</c:v>
                </c:pt>
                <c:pt idx="12">
                  <c:v>97.6</c:v>
                </c:pt>
                <c:pt idx="13">
                  <c:v>97.7</c:v>
                </c:pt>
                <c:pt idx="14">
                  <c:v>98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13D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8.5"/>
          <c:min val="94"/>
        </c:scaling>
        <c:delete val="0"/>
        <c:axPos val="b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95A6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검증 오답 24개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bubble3D val="0"/>
            <c:spPr>
              <a:solidFill>
                <a:srgbClr val="B6BDCA"/>
              </a:solidFill>
              <a:effectLst/>
            </c:spPr>
          </c:dPt>
          <c:dPt>
            <c:idx val="2"/>
            <c:bubble3D val="0"/>
            <c:spPr>
              <a:solidFill>
                <a:srgbClr val="FCA31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라벨·문제 오류</c:v>
                </c:pt>
                <c:pt idx="1">
                  <c:v>답이 둘 다 됨</c:v>
                </c:pt>
                <c:pt idx="2">
                  <c:v>모델 실수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</c:v>
                </c:pt>
                <c:pt idx="1">
                  <c:v>8</c:v>
                </c:pt>
                <c:pt idx="2">
                  <c:v>6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SSAFY 16기 2회차 AI 챌린지 A084 성훈 있는 성훈팀의 솔루션입니다. 핵심은 여러 비전-언어 모델이 낸 a~d 확률을, 공개 점수가 아니라 고정 검증 1,000문항만으로 묶은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단독 모델은 검증 95.7~97.7%였고, 확률 평균 조합이 98.0%로 가장 높았습니다. 이 조합의 공개 점수가 0.97736입니다. 학습 실행은 20개, 기반 모델은 10종(7계열)입니다.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학습에는 대회 train만 썼고, 그중 1,000문항을 고정 검증셋으로 떼어 모든 모델과 조합을 같은 문항으로 비교했습니다. dev는 정답이 없어 조건을 만족한 문항만 의사 라벨로 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데이터에서 세 갈래로 모델을 만들고, 모두 검증 1,000문항과 test 6,714문항의 a~d 확률을 같은 형식으로 저장합니다. 이 확률을 후보 A(조합 탐색)와 후보 B(교체 규칙)로 합쳐 제출 파일을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 1,000문항에서는 1문항이 0.1%p입니다. 오답이 20여 개뿐이라 몇 문항 차이는 우연일 수 있어, 같은 문항끼리 비교하고 채택 기준을 결과보다 먼저 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해상도는 이름 붙인 프리셋으로 관리했고, 대회 사진이 대부분 720×960이라 평가는 약 2배로 키운 up2.0으로 통일했습니다. 라벨 오류가 있어도 test에 같은 성격의 문항이 있을 수 있어 학습 라벨은 고치지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후보 모델을 학습 없이 같은 300문항으로 먼저 재었습니다. Gemma 4 31B가 97.67%로 가장 높았고, EXAONE·GLM·A.X처럼 한국어 글자 읽기가 약한 모델은 학습하지 않았습니다. 모델 크기가 크다고 더 잘 읽지는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목표는 추론과 같은 프롬프트의 답 자리 한 곳에서 정답 글자를 맞히는 것입니다. 그래서 학습 뒤에는 답 자리에 a~d 외의 토큰이 거의 나오지 않고, 확률을 그대로 조합에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HyperCLOVA X는 생각 모드 모델이라 답 자리에서 바로 글자를 내도록 빈 생각 블록을 닫았습니다. Flash-Next는 B300 한 장에서 학습하면서 역전파 NaN, 느린 희소 어텐션, 큰 임베딩 표 문제를 각각 고쳤습니다.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모델은 답을 문장으로 생성하지 않고, 답 자리 토큰 하나의 a~d 확률로 답합니다. 왼쪽 막대는 개념 그림입니다. 대형 모델은 vLLM으로 같은 방식으로 채점했고, 답이 갈린 문항에는 판정 모델을 따로 돌렸습니다.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단독 모델은 95.7~97.7% 사이에 몰려 있습니다. 조합의 98.0%는 조합을 고른 그 1,000문항에서 잰 값이라 조금 부풀려져 있고, 같은 방법의 중첩 교차검증은 97.53%였습니다. 축은 94%부터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조합 수십만 개를 1,000문항으로 고르면 1등은 운이 섞여 부풀려집니다. 그래서 800문항으로 고르고 200문항으로 채점하는 중첩 교차검증으로 방법 자체의 성능을 따로 쟀고, 차이는 약 0.5%p였습니다.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 모델이 불확실하고 보조 모델들의 표가 한 보기로 모일 때만 답을 바꿉니다. 교차 적합 검증에서는 순이득 +4, +2로 합격선(+10)에 못 미쳐 불채택이었습니다. 다만 최종 점수는 두 제출 중 높은 쪽이라, 후보 A와 방식이 다른 교체 규칙 파일 505d49를 두 번째 제출 칸에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제출은 검증으로 고른 조합 ea0e9f(공개 0.97736)와 교체 규칙 파일 505d49(공개 0.97378)입니다. 공개 점수는 test의 절반인 3,357문항으로 매겨져 상위 제출끼리 2~3문항 차이는 우연 범위라, 확인용으로만 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단독으로는 좋아 보인 변형이 많았지만, 조합에 넣으면 순이득이 0 이하였습니다. 멤버들이 같은 문항을 확신하며 틀리는 구조라, 한 멤버의 학습 방식 차이는 조합에서 거의 드러나지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오답 24개 중 10개는 라벨이나 문제 자체의 오류, 8개는 두 보기가 모두 답이 될 수 있는 문항이었습니다. 멤버 전부가 같은 오답을 확신하는 문항이 많아, 단독 성능을 올려도 이 문항들은 움직이지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제출 CSV만 다시 만들 때는 저장된 예측으로 5·6번 노트북만 돌리면 됩니다. RunPod에는 Google Drive가 붙지 않아 HF 비공개 데이터셋 저장소로 데이터와 결과를 옮겼습니다.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1단계는 난수가 없어 완전히 같은 CSV가 나와야 합니다. 2단계는 저장된 어댑터로 다시 채점해 예측을 대조하고, 3단계는 처음부터 다시 학습하는 경우로 GPU 커널의 비결정성 때문에 소수 문항이 다를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큰 제약은 라벨 노이즈와 작은 검증셋이었습니다. 그래서 모델을 더 만드는 것보다, 같은 문항 비교와 미리 정한 규칙, 중첩 교차검증으로 진짜 개선만 골라내는 절차에 힘을 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SSAFY 16기 2회차 AI 챌린지 · 텍스트 이미지 기반 VQA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VLM의 a~d 확률을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검증으로 묶다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5204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속 글자를 읽는 4지선다 VQA 솔루션 설명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전략 · 데이터 처리 · 모델 개발 · 실험 설계 · 실행 방법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74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559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2026-09-28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01000" y="1417320"/>
            <a:ext cx="1645920" cy="1645920"/>
          </a:xfrm>
          <a:prstGeom prst="roundRect">
            <a:avLst>
              <a:gd name="adj" fmla="val 16667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01000" y="15819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2496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p(a)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902952" y="1417320"/>
            <a:ext cx="1645920" cy="1645920"/>
          </a:xfrm>
          <a:prstGeom prst="roundRect">
            <a:avLst>
              <a:gd name="adj" fmla="val 16667"/>
            </a:avLst>
          </a:prstGeom>
          <a:solidFill>
            <a:srgbClr val="22335A"/>
          </a:solidFill>
          <a:ln w="12700">
            <a:solidFill>
              <a:srgbClr val="2B3F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902952" y="15819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9902952" y="2496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p(b)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1000" y="3319272"/>
            <a:ext cx="1645920" cy="1645920"/>
          </a:xfrm>
          <a:prstGeom prst="roundRect">
            <a:avLst>
              <a:gd name="adj" fmla="val 16667"/>
            </a:avLst>
          </a:prstGeom>
          <a:solidFill>
            <a:srgbClr val="22335A"/>
          </a:solidFill>
          <a:ln w="12700">
            <a:solidFill>
              <a:srgbClr val="2B3F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348386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4398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p(c)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902952" y="3319272"/>
            <a:ext cx="1645920" cy="1645920"/>
          </a:xfrm>
          <a:prstGeom prst="roundRect">
            <a:avLst>
              <a:gd name="adj" fmla="val 16667"/>
            </a:avLst>
          </a:prstGeom>
          <a:solidFill>
            <a:srgbClr val="22335A"/>
          </a:solidFill>
          <a:ln w="12700">
            <a:solidFill>
              <a:srgbClr val="2B3F6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02952" y="348386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9902952" y="4398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p(d)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512978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자리 토큰의 a~d 확률로 답을 고릅니다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VLM을 같은 조건으로 학습·채점하고, 검증 1,000문항만으로 조합을 골랐습니다.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1874520"/>
          </a:xfrm>
          <a:prstGeom prst="roundRect">
            <a:avLst>
              <a:gd name="adj" fmla="val 4878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정확도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21992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98.0%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조합 · 고정 검증 1,000문항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8218" y="1691640"/>
            <a:ext cx="3515258" cy="1874520"/>
          </a:xfrm>
          <a:prstGeom prst="roundRect">
            <a:avLst>
              <a:gd name="adj" fmla="val 4878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189280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리더보드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221992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0.97736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0632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점수 · 3,281 / 3,357문항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7797" y="1691640"/>
            <a:ext cx="3515258" cy="1874520"/>
          </a:xfrm>
          <a:prstGeom prst="roundRect">
            <a:avLst>
              <a:gd name="adj" fmla="val 4878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189280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규모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221992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20개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30632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 실행 · 기반 모델 10종(7계열)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0565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08736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조건으로 비교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654296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검증 분할 · 같은 프롬프트 · 답 자리 a~d 확률 채점으로 모든 모델을 같은 문항에서 직접 비교했습니다.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66818" y="410565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142890" y="408736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모델 확보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66818" y="4654296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10종을 LoRA로 파인튜닝하고, 학습 없는 대형 모델(Qwen3.5-122B GPTQ 등)까지 모든 확률을 저장했습니다.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56397" y="410565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932469" y="408736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검증으로만 조합 선택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356397" y="4654296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평균 조합을 검증 1,000문항으로 고르고, 고르는 과정의 부풀림은 중첩 교차검증으로 따로 쟀습니다.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과제와 데이터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속 글자를 읽고 네 보기 중 정답 하나를 고르는 과제 — 평가 지표는 정확도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154680" cy="42062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2606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이미지 자리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 데이터라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공개본에는 넣지 않았습니다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161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예시 이미지 (원본은 대회 데이터)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77640" y="1645920"/>
            <a:ext cx="3794760" cy="4206240"/>
          </a:xfrm>
          <a:prstGeom prst="roundRect">
            <a:avLst>
              <a:gd name="adj" fmla="val 2410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828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사진 속 선반에 적힌 문구는 무엇인가요?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697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73752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SUNDAY BURGER LOVE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33558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DA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73752" y="3355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MONDAY SALAD TIME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40142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DA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73752" y="40142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FRIDAY PIZZA PARTY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46725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DA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73752" y="46725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WEDNESDAY SOUP DAY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5349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a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645920"/>
          <a:ext cx="359359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713232"/>
                <a:gridCol w="1828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 − 검증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5,714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LoRA 학습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검증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비교 · 조합 선택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6,714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추론만 (공개 점수는 3,357문항)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2,683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없음 → 조건부 의사 라벨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8046720" y="4251960"/>
            <a:ext cx="3593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대부분 720×960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데이터는 쓰지 않음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6,714 = 학습 5,714 + 검증 1,000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전략 — 전체 파이프라인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모델이 같은 형식(문항별 a~d 확률)으로 예측을 남기고, 조합 단계에서 합칩니다.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28800" cy="416052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01368"/>
            <a:ext cx="155448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 데이터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6,714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학습 5,714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고정 검증 1,000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6,714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글자 (선택)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88920" y="169164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F1F3F7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801368"/>
            <a:ext cx="18745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 파인튜닝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 · Qwen3.5 · Qwen3.8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InternVL3.5 · HCX 등 (Colab)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315468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F1F3F7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3264408"/>
            <a:ext cx="18745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초대형 모델 LoRA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Qwen3.8-Flash-Next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(RunPod B300)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8920" y="461772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F1F3F7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4727448"/>
            <a:ext cx="18745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없는 모델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Qwen3.5-122B GPTQ · Gemma 4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(vLLM 채점)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49240" y="1691640"/>
            <a:ext cx="1828800" cy="416052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1801368"/>
            <a:ext cx="155448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저장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1,000 · test 6,714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문항마다 a~d 확률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해상도 up2.0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vqa_runs/&lt;실행&gt;/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CSV + train_log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169164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F1F3F7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801368"/>
            <a:ext cx="16459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A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탐색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평균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CV로 방법 평가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89520" y="393192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F1F3F7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4041648"/>
            <a:ext cx="16459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B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규칙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모델 + 보조 표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적합 검증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921240" y="1691640"/>
            <a:ext cx="1719072" cy="4160520"/>
          </a:xfrm>
          <a:prstGeom prst="roundRect">
            <a:avLst>
              <a:gd name="adj" fmla="val 5319"/>
            </a:avLst>
          </a:prstGeom>
          <a:solidFill>
            <a:srgbClr val="FCA311"/>
          </a:solidFill>
          <a:ln w="9525">
            <a:solidFill>
              <a:srgbClr val="FCA31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0" y="1801368"/>
            <a:ext cx="144475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제출 2개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A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ea0e9f (조합)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B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505d49 (교체 규칙)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77440" y="2308860"/>
            <a:ext cx="411480" cy="0"/>
          </a:xfrm>
          <a:prstGeom prst="line">
            <a:avLst/>
          </a:prstGeom>
          <a:noFill/>
          <a:ln w="19050">
            <a:solidFill>
              <a:srgbClr val="8C95A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937760" y="2308860"/>
            <a:ext cx="411480" cy="0"/>
          </a:xfrm>
          <a:prstGeom prst="line">
            <a:avLst/>
          </a:prstGeom>
          <a:noFill/>
          <a:ln w="19050">
            <a:solidFill>
              <a:srgbClr val="8C95A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377440" y="3771900"/>
            <a:ext cx="411480" cy="0"/>
          </a:xfrm>
          <a:prstGeom prst="line">
            <a:avLst/>
          </a:prstGeom>
          <a:noFill/>
          <a:ln w="19050">
            <a:solidFill>
              <a:srgbClr val="8C95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37760" y="3771900"/>
            <a:ext cx="411480" cy="0"/>
          </a:xfrm>
          <a:prstGeom prst="line">
            <a:avLst/>
          </a:prstGeom>
          <a:noFill/>
          <a:ln w="19050">
            <a:solidFill>
              <a:srgbClr val="8C95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77440" y="5234940"/>
            <a:ext cx="411480" cy="0"/>
          </a:xfrm>
          <a:prstGeom prst="line">
            <a:avLst/>
          </a:prstGeom>
          <a:noFill/>
          <a:ln w="19050">
            <a:solidFill>
              <a:srgbClr val="8C95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37760" y="5234940"/>
            <a:ext cx="411480" cy="0"/>
          </a:xfrm>
          <a:prstGeom prst="line">
            <a:avLst/>
          </a:prstGeom>
          <a:noFill/>
          <a:ln w="19050">
            <a:solidFill>
              <a:srgbClr val="8C95A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78040" y="2651760"/>
            <a:ext cx="411480" cy="0"/>
          </a:xfrm>
          <a:prstGeom prst="line">
            <a:avLst/>
          </a:prstGeom>
          <a:noFill/>
          <a:ln w="19050">
            <a:solidFill>
              <a:srgbClr val="8C95A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09760" y="2651760"/>
            <a:ext cx="411480" cy="0"/>
          </a:xfrm>
          <a:prstGeom prst="line">
            <a:avLst/>
          </a:prstGeom>
          <a:noFill/>
          <a:ln w="19050">
            <a:solidFill>
              <a:srgbClr val="8C95A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78040" y="4892040"/>
            <a:ext cx="411480" cy="0"/>
          </a:xfrm>
          <a:prstGeom prst="line">
            <a:avLst/>
          </a:prstGeom>
          <a:noFill/>
          <a:ln w="19050">
            <a:solidFill>
              <a:srgbClr val="8C95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09760" y="4892040"/>
            <a:ext cx="411480" cy="0"/>
          </a:xfrm>
          <a:prstGeom prst="line">
            <a:avLst/>
          </a:prstGeom>
          <a:noFill/>
          <a:ln w="19050">
            <a:solidFill>
              <a:srgbClr val="8C95A6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설계 — 무엇이 진짜 개선인지 가리기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검증이 1,000문항(오답 20여 개)이라 ±3문항은 우연 범위 — 판정 절차부터 정했습니다.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1109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892808"/>
            <a:ext cx="437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검증 1,000문항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41448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train에서 정답 글자별 250문항씩 뽑음(시드 42). 모든 노트북이 분할 md5를 확인하고, 다르면 멈춥니다.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182112"/>
            <a:ext cx="495284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18211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글자별 250 × 4 = 1,000문항 · 분할 md5 df05e4bc…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191109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37680" y="1892808"/>
            <a:ext cx="437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문항 비교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441448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한 숫자 대신 고친 문항 · 새로 틀린 문항 · 순이득으로 판정하고 부호 검정을 봅니다.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61608" y="3182112"/>
            <a:ext cx="495284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44488" y="318211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Qwen3.5 학습 전 → 후  고침 13 · 새로 틀림 2 → 순이득 +11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33425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315968"/>
            <a:ext cx="437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결과 전에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64608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기준을 실행 전에 적어 둡니다. 예: 앙상블 순이득 ≥ +3이고 새로 틀린 문항 ≤ 고친 문항의 절반.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5605272"/>
            <a:ext cx="495284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60527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학습 변형 19가지 → 모두 기준 미달로 불채택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3008" y="411480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1608" y="433425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37680" y="4315968"/>
            <a:ext cx="437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과정도 평가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61608" y="4864608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조합·문턱값 선택은 중첩 교차검증·교차 적합으로 재고, 공개 리더보드는 확인용으로만 씁니다.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61608" y="5605272"/>
            <a:ext cx="495284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44488" y="560527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검증 1등 조합 98.0% → 같은 방법의 중첩 CV 97.53%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 데이터만 사용 — 해상도, 보기 섞기, 보조·의사 라벨, OCR, 라벨 점검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1109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89280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· 해상도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59736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EXIF 방향 보정 · RGB. 평가·test는 up2.0(약 2배): Qwen·HCX 270만~340만 픽셀, Gemma 4 소프트 토큰 1,120개, InternVL 타일 12개.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8218" y="169164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6818" y="191109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142890" y="189280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459736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epoch마다 보기 순서를 섞고 정답 글자도 함께 바꿈(자리 편향 제거). 글자 과제라 회전·반전·자르기는 쓰지 않음.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169164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6397" y="191109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932469" y="189280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학습 데이터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59736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 없이도 답이 정해지는 글자 읽기 문항(가격·시간·전화·상호·층·문구)만 골라 단답형 목표로 사용.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37997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36168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의사 라벨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928616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교육생 응답은 4~5명 일치가 0문항(최다 3표). 모델 확신 ≥ 0.8이고 3표 이상 다수결과 같은 문항만 사용.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66818" y="437997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142890" y="436168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(선택)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66818" y="4928616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PaddleOCR-VL로 글자 줄·위치 추출. 반복 루프는 정리하고, 1,000자를 넘으면 질문·보기와 겹치는 줄부터 남김.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7797" y="416052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56397" y="437997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932469" y="436168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점검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56397" y="4928616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오답을 이미지로 직접 확인: 라벨 오류 약 10 · 답이 둘 다 되는 문항 약 8. 학습 라벨은 원본 그대로 사용.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모델 고르기 — 학습 전에 먼저 재기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앞 300문항 zero-shot으로 한국어 글자 읽기를 비교하고, 약한 모델은 학습하지 않았습니다.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2237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783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755648"/>
            <a:ext cx="3184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학습한 모델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92440" y="21671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B6BDCA"/>
          </a:solidFill>
          <a:ln w="12700">
            <a:solidFill>
              <a:srgbClr val="B6BDC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58200" y="2139696"/>
            <a:ext cx="3184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학습하지 않음 (글자 읽기 약함)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92440" y="255117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58200" y="2523744"/>
            <a:ext cx="3184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zero-shot 1위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3063240"/>
            <a:ext cx="3550615" cy="3063240"/>
          </a:xfrm>
          <a:prstGeom prst="roundRect">
            <a:avLst>
              <a:gd name="adj" fmla="val 2985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246120"/>
            <a:ext cx="3093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후 대략 +1.1~1.4%p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Qwen3.5-27B 96.1 → 97.2 (같은 1,000문항)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크기보다 계열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320B GLM-5.3-Flash 92.0 · 122B zero-shot 96.0(1,000문항) &lt; Gemma 4 31B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형식부터 확인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Muse-Glimmer-30B는 답 자리 형식이 달라 측정 무효 (letter_mass 0.003)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 — 하나의 레시피, 여러 모델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노트북 01_train_vlm에 실행 이름(RECIPE)만 넣으면 train_log와 같은 설정으로 재현됩니다.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086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760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목표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추론과 똑같은 프롬프트의 마지막 위치(답 자리) 로짓에만 교차 엔트로피 · 목표는 정답 소문자 한 글자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LoRA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 16 · α 32 · dropout 0.05 · 언어 모델의 어텐션·MLP 선형층. 선택으로 비전 블록·투영층도(LR × 0.2)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AdamW · LR 1e-4(이어학습 2e-5) · cosine + warmup 5% · 유효 배치 16 · 1 epoch (8B·9B는 2 epoch 중 검증으로 선택)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20B 이상은 4bit NF4(QLoRA) 또는 bf16. 비전 타워·투영층·lm_head는 양자화하지 않음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해상도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(Gemma 4 31B만 up2.0이 더 좋아 up2.0)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이어하기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50스텝마다 어댑터·옵티마이저·난수 상태 저장 → 끊긴 곳부터 같은 결과로 이어 학습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645920"/>
            <a:ext cx="3687775" cy="4343400"/>
          </a:xfrm>
          <a:prstGeom prst="roundRect">
            <a:avLst>
              <a:gd name="adj" fmla="val 2480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78308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자리 한 곳만 학습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0" y="2286000"/>
            <a:ext cx="3139135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0" y="2286000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0" y="2761488"/>
            <a:ext cx="3139135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0" y="2761488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0" y="3236976"/>
            <a:ext cx="3139135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3236976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(a)~(d) 보기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0" y="3712464"/>
            <a:ext cx="3139135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3712464"/>
            <a:ext cx="3139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“한 글자로 답”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799168" y="4187952"/>
            <a:ext cx="0" cy="256032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8229600" y="4480560"/>
            <a:ext cx="3139135" cy="457200"/>
          </a:xfrm>
          <a:prstGeom prst="roundRect">
            <a:avLst>
              <a:gd name="adj" fmla="val 16000"/>
            </a:avLst>
          </a:prstGeom>
          <a:solidFill>
            <a:srgbClr val="FCA311"/>
          </a:solidFill>
          <a:ln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자리 → 정답 글자 1개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5074920"/>
            <a:ext cx="3139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뒤 letter_mass(답 자리의 a~d 확률 합)가 모든 모델에서 1.000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모델별 처리 — 답 자리와 하드웨어 맞추기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템플릿·해상도 단위·커널이 모델마다 달라, 같은 채점을 하려면 개별 보정이 필요했습니다.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51660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HCX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719072"/>
            <a:ext cx="2926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HyperCLOVA X SEED Think 32B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719072"/>
            <a:ext cx="643097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두면 답 자리에서 생각 블록을 시작 → thinking=False를 넘기고 열린 &lt;think&gt;를 &lt;/think&gt;로 닫아 다음 토큰이 곧 답 글자가 되게 함 (transformers 개발 버전 커밋)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930652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해상도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798064"/>
            <a:ext cx="2926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 · InternVL3.5 · Qwen3.5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798064"/>
            <a:ext cx="643097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해상도 단위가 다름: 이미지당 소프트 토큰 수 / 448px 타일 수 / 픽셀 범위. Qwen3.5 이후는 선형 어텐션 커널(flash-linear-attention)을 설치해야 OOM이 나지 않음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009644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877056"/>
            <a:ext cx="2926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Qwen3.8-Flash-Next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(bf16 330GiB)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877056"/>
            <a:ext cx="643097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패딩 자리의 전부 가려진 어텐션 행 때문에 역전파가 NaN → 학습 중에만 풀어 넘김 · 희소 어텐션 토큰 선택 벡터화 · 95GiB n-gram 표는 CPU RAM에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82896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5088636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956048"/>
            <a:ext cx="2926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없는 대형 모델 (vLLM 0.30)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4956048"/>
            <a:ext cx="643097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Qwen3.5-122B는 사전 양자화 GPTQ-Int4로 G4 96GB 한 장에서 · B300에서는 즉석 컴파일이 안 돼 Triton 어텐션·MoE 커널 사용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167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보정마다 작은 모델로 원래 구현과 결과(로짓·손실·기울기)가 같은지 대조한 뒤 썼습니다.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— 생성하지 않고 답 자리 확률로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모델이 문항마다 a~d 네 확률을 남기고, 이 확률이 조합의 재료가 됩니다.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526280"/>
          </a:xfrm>
          <a:prstGeom prst="roundRect">
            <a:avLst>
              <a:gd name="adj" fmla="val 2020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+ 질문 + (a)~(d) + “한 글자로 답하라”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350008"/>
            <a:ext cx="0" cy="210312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8680" y="2578608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5786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(LoRA 학습 또는 zero-shot)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3099816"/>
            <a:ext cx="0" cy="210312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868680" y="3337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자리 다음 토큰의 확률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767328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63040" y="3849624"/>
            <a:ext cx="3840480" cy="164592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197096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DA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63040" y="4279392"/>
            <a:ext cx="320040" cy="164592"/>
          </a:xfrm>
          <a:prstGeom prst="rect">
            <a:avLst/>
          </a:prstGeom>
          <a:solidFill>
            <a:srgbClr val="B6BDCA"/>
          </a:solidFill>
          <a:ln w="12700">
            <a:solidFill>
              <a:srgbClr val="B6BD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626864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DA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63040" y="4709160"/>
            <a:ext cx="182880" cy="164592"/>
          </a:xfrm>
          <a:prstGeom prst="rect">
            <a:avLst/>
          </a:prstGeom>
          <a:solidFill>
            <a:srgbClr val="B6BDCA"/>
          </a:solidFill>
          <a:ln w="12700">
            <a:solidFill>
              <a:srgbClr val="B6BD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5056632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DA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463040" y="5138928"/>
            <a:ext cx="256032" cy="164592"/>
          </a:xfrm>
          <a:prstGeom prst="rect">
            <a:avLst/>
          </a:prstGeom>
          <a:solidFill>
            <a:srgbClr val="B6BDCA"/>
          </a:solidFill>
          <a:ln w="12700">
            <a:solidFill>
              <a:srgbClr val="B6BDC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532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대소문자·앞 공백 변형(a, A, “ a”, “ A”) 확률을 합쳐 네 보기로 정규화 · letter_mass(네 글자 확률 합)로 답 자리 점검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1645920"/>
            <a:ext cx="5242255" cy="1435608"/>
          </a:xfrm>
          <a:prstGeom prst="roundRect">
            <a:avLst>
              <a:gd name="adj" fmla="val 6369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1773936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2194560"/>
            <a:ext cx="478505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검증·test 모두 up2.0. 보기 순열 4가지 평균(TTA)과 애매한 문항 고해상도(3·4배) 재채점은 이득이 없어 쓰지 않음.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3191256"/>
            <a:ext cx="5242255" cy="1435608"/>
          </a:xfrm>
          <a:prstGeom prst="roundRect">
            <a:avLst>
              <a:gd name="adj" fmla="val 6369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3319272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없는 대형 모델 (vLLM)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3739896"/>
            <a:ext cx="478505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자리 상위 64개 로그확률에서 a~d 수집. 이미지 크기를 transformers 전처리와 맞춤. 검증 122B GPTQ 96.0% · Gemma 4 97.0%.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4736592"/>
            <a:ext cx="5242255" cy="1435608"/>
          </a:xfrm>
          <a:prstGeom prst="roundRect">
            <a:avLst>
              <a:gd name="adj" fmla="val 6369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4864608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모델 (교차 검증)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5285232"/>
            <a:ext cx="478505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기준·보조 모델의 답이 갈린 문항만. 두 답을 모델 A/B로 제시하고 단계별 결론 → 표본 5개 다수결이 한 표, 부족·동점은 기권.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결과 — 단독 95.7~97.7%, 조합 98.0%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검증 1,000문항 · up2.0. 실행 5개(4계열)의 같은 가중치 확률 평균이 가장 높았습니다.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635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783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0" y="1755648"/>
            <a:ext cx="2773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 학습 모델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03920" y="21671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B6BDCA"/>
          </a:solidFill>
          <a:ln w="12700">
            <a:solidFill>
              <a:srgbClr val="B6BDC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0" y="2139696"/>
            <a:ext cx="2773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zero-shot (학습 없음)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0" y="255117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69680" y="2523744"/>
            <a:ext cx="2773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평균 조합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03920" y="3063240"/>
            <a:ext cx="3139135" cy="3108960"/>
          </a:xfrm>
          <a:prstGeom prst="roundRect">
            <a:avLst>
              <a:gd name="adj" fmla="val 2941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32520" y="3246120"/>
            <a:ext cx="268193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멤버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 bf16 · Gemma 4 OCR · InternVL3.5 · Qwen3.5 bf16 · Qwen3.8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최하위도 조합에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InternVL(95.7)은 틀리는 문항이 달라 조합에 보탬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정밀도는 병목 아님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시드 NF4·bf16 답 99% 동일 (Qwen3.5 97.2 / 97.1)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A — 검증으로 조합 고르기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3가지 × 검색 3가지로 조합을 찾고, 고르는 과정의 과적합은 중첩 교차검증으로 따로 쟀습니다.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673352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분할로 학습하고 검증·test 예측이 모두 있는 실행. 검증을 학습에 쓴 _full · 검증 99% 초과 실행은 제외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70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7706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752344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평균 / 멤버별 온도 보정 후 평균 / 로그확률 평균 (온도는 검증 NLL 최소)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96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8496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831336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가중치 부분집합 전수(설정마다 약 70만 조합) · 그리디 · 좌표 상승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286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9286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4910328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CV 5겹 × 4번: 800문항으로 검색하고 남은 200문항으로 채점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1691640"/>
            <a:ext cx="5196535" cy="2331720"/>
          </a:xfrm>
          <a:prstGeom prst="roundRect">
            <a:avLst>
              <a:gd name="adj" fmla="val 3922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98.0%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1,000문항에서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최고 조합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69680" y="2286000"/>
            <a:ext cx="41148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41832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97.53%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방법의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CV 정확도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3474720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1,000문항에서 고른 최고값은 약 0.5%p 부풀려짐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251960"/>
            <a:ext cx="5196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제출 ea0e9f — 같은 가중치 확률 평균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709160"/>
            <a:ext cx="95152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 bf16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507773" y="4709160"/>
            <a:ext cx="95152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 OCR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569025" y="4709160"/>
            <a:ext cx="95152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InternVL3.5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630278" y="4709160"/>
            <a:ext cx="95152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 bf16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691531" y="4709160"/>
            <a:ext cx="95152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Qwen3.8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5440680"/>
            <a:ext cx="5196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98.0% · 공개 0.97736</a:t>
            </a:r>
            <a:pPr indent="0" marL="0"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(3,281 / 3,357) · 실행 5개 · 4계열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B — 기준 모델 교체 규칙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모델(Flash-Next 학습 모델)의 답은 네 조건을 모두 만족할 때만 보조 모델 쪽으로 바꿉니다.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2154" cy="1600200"/>
          </a:xfrm>
          <a:prstGeom prst="roundRect">
            <a:avLst>
              <a:gd name="adj" fmla="val 5714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6537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847088"/>
            <a:ext cx="1568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14016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모델이 기준과 다른 보기를 고름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79394" y="1645920"/>
            <a:ext cx="2602154" cy="1600200"/>
          </a:xfrm>
          <a:prstGeom prst="roundRect">
            <a:avLst>
              <a:gd name="adj" fmla="val 5714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07994" y="186537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84066" y="1847088"/>
            <a:ext cx="1568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 낮음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2414016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기준의 최고 확률 &lt; CONF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0148" y="1645920"/>
            <a:ext cx="2602154" cy="1600200"/>
          </a:xfrm>
          <a:prstGeom prst="roundRect">
            <a:avLst>
              <a:gd name="adj" fmla="val 5714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8748" y="186537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14820" y="1847088"/>
            <a:ext cx="1568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마진 작음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38748" y="2414016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기준의 1·2위 확률 차 &lt; MARGIN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40901" y="1645920"/>
            <a:ext cx="2602154" cy="1600200"/>
          </a:xfrm>
          <a:prstGeom prst="roundRect">
            <a:avLst>
              <a:gd name="adj" fmla="val 5714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9501" y="186537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845573" y="1847088"/>
            <a:ext cx="1568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69501" y="2414016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AGREE개 이상이 같은 다른 보기를 고름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4206240" cy="2697480"/>
          </a:xfrm>
          <a:prstGeom prst="roundRect">
            <a:avLst>
              <a:gd name="adj" fmla="val 3390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639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기준 (결과 전에 고정)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0690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순이득 ≥ +10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살린 문항 ≥ 망친 문항 × 2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부트스트랩 1,000번 중 95% 이상에서 이득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5구역에서 고른 문턱값이 비슷함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577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문턱값은 5겹 교차 적합으로 선택 · 기준 확률은 온도 보정 후 비교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3520440"/>
          <a:ext cx="661385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783080"/>
                <a:gridCol w="566928"/>
                <a:gridCol w="566928"/>
                <a:gridCol w="713232"/>
                <a:gridCol w="960120"/>
                <a:gridCol w="110916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 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살림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망침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순이득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부트스트랩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a12cf3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4 + zero-shot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불채택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19f20f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4 + zero-shot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불채택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029200" y="5074920"/>
            <a:ext cx="6613855" cy="114300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257800" y="5184648"/>
            <a:ext cx="6156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제출 두 번째 칸: 505d49 (공개 0.97378)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단독(0.97110)보다 9문항 높음. 후보 A와 방식이 다른 파일로 둘째 칸을 채움 — 최종 점수는 두 제출 중 높은 쪽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결과와 최종 제출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제출은 후보 A 조합 ea0e9f와 후보 B 교체 규칙 505d49 — 공개 점수는 확인용으로만 썼습니다.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74920"/>
                <a:gridCol w="868680"/>
                <a:gridCol w="1097280"/>
                <a:gridCol w="1097280"/>
                <a:gridCol w="112745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점수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문항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ea0e9f (후보 A)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Gemma 4 bf16 · Gemma 4 OCR · InternVL3.5 · Qwen3.5 bf16 · Qwen3.8, 확률 평균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0.97736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3,281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505d49 (후보 B)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Flash-Next 기준 + 보조 모델 표 (교체 규칙)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0.97378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3,269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b47d7c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ea0e9f 조합 + Flash-Next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0.97676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3,279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majority_vote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조합 3개의 다수결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0.97676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3,279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clean4_qg_hcx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Qwen3.5 · Qwen3.8 · Gemma 4 · Gemma 4 +dev · HCX(×2) 가중 평균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0.97646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3,278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Flash-Next 단독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모델 1개 (후보 B의 기준 모델)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0.97110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3,260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39512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024128" y="5166360"/>
            <a:ext cx="490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문항 수 = 점수 × 3,357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제출끼리는 2~3문항 차이 — 공개 절반에서 약 20문항이 갈려, 운만으로 ±4~5문항은 흔합니다.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233008" y="5239512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708496" y="5166360"/>
            <a:ext cx="490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칸은 방식이 다른 후보로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점수는 두 제출 중 높은 쪽입니다. 검증으로 고른 조합에, 방식이 다른 교체 규칙 파일을 더했습니다.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채택하지 않은 실험 — 단독 개선 ≠ 조합 개선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정한 기준으로 판정 — 검증 순이득이 0 이하였거나 공개 점수가 떨어졌습니다.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846320"/>
                <a:gridCol w="2041855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변형 19가지 (LR · epoch · LoRA 세기 · 보조 손실)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96.6~97.6%, 앙상블 순이득 −2~0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25C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bf16 재학습 (NF4 대비)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시드면 답 99% 동일 (Qwen3.5 97.2 → 97.1)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25C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병목 아님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데이터 3,500문항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5,714문항과 같은 97.2%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25C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양 충분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OCR 글자 프롬프트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Gemma 97.5 → 97.7 · Qwen3.5 97.1 → 96.9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25C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일관된 이득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보기 순열 TTA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0.97557 · 0.97587 (원래보다 2~4문항 낮음)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25C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애매한 문항 고해상도 재채점 (3·4배)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멤버 단위 이득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25C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보기별 예/아니오 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 조합 위에서 98.0 → 97.7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25C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포함 재학습(_full)으로 교체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4문항 하락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25C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 의사 라벨 추가 학습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Gemma 97.6 → 97.4 · Qwen3.8 96.8 → 96.3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25C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분석 — 천장은 라벨이 정한다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기반 조합의 오답 24개를 이미지로 직접 확인하니, 모델로 고칠 수 있는 건 6개 남짓이었습니다.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83080"/>
          <a:ext cx="43891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2011680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오답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669280" y="1691640"/>
            <a:ext cx="5973775" cy="1170432"/>
          </a:xfrm>
          <a:prstGeom prst="roundRect">
            <a:avLst>
              <a:gd name="adj" fmla="val 7813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97880" y="194767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7648" y="1874520"/>
            <a:ext cx="5059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라벨·문제 오류 10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327648" y="2295144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간판은 ROCK인데 정답 POP · 브랜드 Johnnie Walker인데 정답 Blue Label · 이미지에 없는 TANQUERAY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0" y="3017520"/>
            <a:ext cx="5973775" cy="1170432"/>
          </a:xfrm>
          <a:prstGeom prst="roundRect">
            <a:avLst>
              <a:gd name="adj" fmla="val 7813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97880" y="32735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B6BDCA"/>
          </a:solidFill>
          <a:ln w="12700">
            <a:solidFill>
              <a:srgbClr val="B6BDC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7648" y="3200400"/>
            <a:ext cx="5059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둘 다 됨 8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327648" y="3621024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札幌 = Sapporo · 48만 / 40만 · “밍기적” vs “망기적”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0" y="4343400"/>
            <a:ext cx="5973775" cy="1170432"/>
          </a:xfrm>
          <a:prstGeom prst="roundRect">
            <a:avLst>
              <a:gd name="adj" fmla="val 7813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97880" y="459943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7648" y="4526280"/>
            <a:ext cx="5059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실수 6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27648" y="4946904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거꾸로 붙은 “냉장보관” 스티커 · 작은 글씨 100g · 출구 안내판 배치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5669280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라벨은 원본 그대로 두었습니다 (test에도 같은 성격의 문항이 있을 수 있음). 조합으로 고칠 여지는 멤버 의견이 갈리는 문항 몇 개뿐이었습니다.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구성과 실행 방법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번호 순서대로 실행 — 모든 결과는 vqa_runs/&lt;실행&gt;/에 예측 CSV와 train_log.json으로 남습니다.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114800"/>
                <a:gridCol w="2377440"/>
                <a:gridCol w="3870655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00_data_prep · 00b_ocr_paddle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 · GPU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점검, 고정 분할 확인, 보조 학습 데이터, OCR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01_train_vlm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 A100 80GB · G4 96GB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모델 전부 (RECIPE = 실행 이름)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02_runpod_flashnext_bf16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RunPod B300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Qwen3.8-Flash-Next 학습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03a_zs122b_vllm_colab · 03b_runpod_zs_any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G4 · B300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없는 대형 모델 채점 (vLLM)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04_runpod_xcheck_any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B300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모델 (답이 갈린 문항만)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05_ens_search · 06_anchor_rescue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조합 · 교체 규칙 → 제출 CSV + 설정 JSON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07_final_check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고른 CSV 형식 점검 + 설정 JSON만으로 다시 만들어 대조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util_runpod_bridge_colab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 ↔ HF 비공개 저장소 ↔ RunPod 파일 옮기기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README.md</a:t>
            </a:r>
            <a:pPr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 순서 · 환경 · 재현 방법   </a:t>
            </a:r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MODEL_NOTES.md</a:t>
            </a:r>
            <a:pPr indent="0" marL="0"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모델별 처리(HCX 답 자리 고정, 해상도, Flash-Next 보정, vLLM 설정)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 — 세 단계로 확인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CSV는 저장된 예측과 설정 JSON만으로 난수 없이 다시 만들어집니다.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3818" cy="2606040"/>
          </a:xfrm>
          <a:prstGeom prst="roundRect">
            <a:avLst>
              <a:gd name="adj" fmla="val 3509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2024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예측 → 제출 CSV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07_final_check가 독립 코드로 다시 계산하고 멤버 예측 파일의 md5를 대조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2966618" cy="475488"/>
          </a:xfrm>
          <a:prstGeom prst="roundRect">
            <a:avLst>
              <a:gd name="adj" fmla="val 15385"/>
            </a:avLst>
          </a:prstGeom>
          <a:solidFill>
            <a:srgbClr val="FCA311"/>
          </a:solidFill>
          <a:ln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같음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36466" y="2990088"/>
            <a:ext cx="283464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3938" y="1691640"/>
            <a:ext cx="3423818" cy="2606040"/>
          </a:xfrm>
          <a:prstGeom prst="roundRect">
            <a:avLst>
              <a:gd name="adj" fmla="val 3509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2538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206898" y="192024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어댑터 → 예측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25603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01_train_vlm에서 REUSE_FINISHED = True로 검증 일부를 새로 채점해 저장된 예측과 비교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3611880"/>
            <a:ext cx="296661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>
            <a:solidFill>
              <a:srgbClr val="D5DA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GPU면 답 ~100% 일치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71765" y="2990088"/>
            <a:ext cx="283464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19237" y="1691640"/>
            <a:ext cx="3423818" cy="2606040"/>
          </a:xfrm>
          <a:prstGeom prst="roundRect">
            <a:avLst>
              <a:gd name="adj" fmla="val 3509"/>
            </a:avLst>
          </a:prstGeom>
          <a:solidFill>
            <a:srgbClr val="F1F3F7"/>
          </a:solidFill>
          <a:ln w="9525">
            <a:solidFill>
              <a:srgbClr val="F1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47837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042197" y="192024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재학습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447837" y="25603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RUN_SUFFIX = "_repro"로 같은 레시피를 다시 학습 (시드·순서·설정 동일)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47837" y="3611880"/>
            <a:ext cx="296661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>
            <a:solidFill>
              <a:srgbClr val="D5DA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비결정성으로 소수 문항 차이 가능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541004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718304"/>
            <a:ext cx="495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고정한 것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분할(시드 42 · md5) · 학습 시드(문항 순서 · 보기 섞기 · LoRA 초기값) · 판정 모델 문항별 시드 · transformers 5.17.0(HCX만 개발 커밋) · peft 0.21.0 · bitsandbytes 0.50.2 · vLLM 0.30.0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33008" y="4572000"/>
            <a:ext cx="541004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1608" y="4718304"/>
            <a:ext cx="495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점검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25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모델(CPU)로 학습 노트북 9개 경로를 끝까지 실행: 점검 실행 · 본 학습 · 비전 LoRA · 이어학습+보조 · OCR · 기록 대조 · 전체 데이터 · dev 의사 라벨 · 중단 후 이어하기(한 번에 학습한 결과와 동일)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 · 텍스트 이미지 VQA 솔루션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배운 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바꾸는 것보다, 무엇이 진짜 개선인지 가려내는 절차가 더 중요했습니다.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22335A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1109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89280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천장은 라벨이 정한다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59736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오답의 절반 이상이 라벨 오류·복수 정답이고, 멤버 전부가 같은 오답을 확신했습니다.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8218" y="1691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22335A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6818" y="191109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142890" y="189280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1,000문항은 작았다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459736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±3문항은 우연과 구별하기 어렵습니다. 학습은 3,500문항이면 충분해, 검증을 더 크게 둘 수 있었습니다.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1691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22335A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6397" y="191109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932469" y="189280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문항 비교 · 사전 규칙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59736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고친·새로 틀린 문항으로 판정하고 기준을 먼저 정하니, 단독으로만 좋아 보이는 변형을 걸러낼 수 있었습니다.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22335A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28853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27024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최고값은 부풀려진다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37176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수십만 개 중 1등은 중첩 CV에서 약 0.5%p 낮았고, 공개 최고를 고를 때도 같습니다.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22335A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66818" y="428853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142890" y="427024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다양성이 이득을 만든다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66818" y="4837176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조합에 들어간 건 단독 순위보다 틀리는 문항이 다른 모델(InternVL · OCR 모델)이었습니다.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7797" y="406908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22335A"/>
          </a:solidFill>
          <a:ln w="9525">
            <a:solidFill>
              <a:srgbClr val="2233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56397" y="4288536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 w="9525">
            <a:solidFill>
              <a:srgbClr val="FCA3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932469" y="4270248"/>
            <a:ext cx="2481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정밀도는 병목이 아니었다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56397" y="4837176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시드의 NF4·bf16 답이 99% 같았고, 초대형 모델은 사전 양자화 체크포인트로 썼습니다.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CA3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A084_성훈 있는 성훈팀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793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SSAFY 16기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텍스트 이미지 VQA 솔루션 설명</dc:title>
  <dc:subject>PptxGenJS Presentation</dc:subject>
  <dc:creator>A084_성훈 있는 성훈팀</dc:creator>
  <cp:lastModifiedBy>A084_성훈 있는 성훈팀</cp:lastModifiedBy>
  <cp:revision>1</cp:revision>
  <dcterms:created xsi:type="dcterms:W3CDTF">2026-10-15T15:12:30Z</dcterms:created>
  <dcterms:modified xsi:type="dcterms:W3CDTF">2026-10-15T15:12:30Z</dcterms:modified>
</cp:coreProperties>
</file>